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BẢN ĐỀ XUẤT NÂNG CẤP</a:t>
            </a:r>
            <a:br/>
            <a:r>
              <a:t>KIẾN TRÚC HẠ TẦNG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95959"/>
                </a:solidFill>
                <a:latin typeface="Calibri"/>
              </a:defRPr>
            </a:pPr>
            <a:r>
              <a:t>Ứng dụng điện toán đám mây nhằm nâng cao năng lực vận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94183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Tổng Công ty Cổ phần Hạ tầng Sigma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95959"/>
                </a:solidFill>
                <a:latin typeface="Calibri"/>
              </a:defRPr>
            </a:pPr>
            <a:r>
              <a:t>Tháng 4/2026  •  Tài liệu nội bộ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864"/>
                </a:solidFill>
                <a:latin typeface="Calibri"/>
              </a:defRPr>
            </a:pPr>
            <a: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I.    Mục tiêu dự án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II.   Phạm vi triển khai — 3 giai đoạn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III.  Nguồn lực và Ngân sách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IV.  Rủi ro và Biện pháp giảm thiểu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V.   Kế hoạch Đào tạo Nội bộ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VI.  Lộ trình tổng thể (Timeline)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1A1A1A"/>
                </a:solidFill>
                <a:latin typeface="Calibri"/>
              </a:defRPr>
            </a:pPr>
            <a:r>
              <a:t>VII. Cam kết và Bước tiếp theo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I. MỤC TIÊU DỰ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Giải bài toán quá tải hạ tầng khi khối lượng truy vấn dữ liệu tăng nhanh theo chiến lược mở rộng 12 chi nhánh mới mỗi quý.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Tăng năng lực xử lý: gấp 3 lần, chi phí vận hành chỉ tăng 15%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Rút ngắn thời gian triển khai: từ 6 tuần xuống còn 3 ngày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Tự chủ vận hành: đội ngũ nội bộ không phụ thuộc vendor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II. PHẠM VI — GĐ1: ĐÁNH GIÁ VÀ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/>
              </a:defRPr>
            </a:pPr>
            <a:r>
              <a:t>Khảo sát toàn bộ hạ tầng hiện tại tại 4 datacenter khu vực. Xây dựng bản thiết kế kiến trúc đích phù hợp với quy mô doanh nghiệp.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Kiểm kê: </a:t>
            </a:r>
            <a:r>
              <a:rPr sz="1500" b="0">
                <a:solidFill>
                  <a:srgbClr val="1A1A1A"/>
                </a:solidFill>
                <a:latin typeface="Calibri"/>
              </a:rPr>
              <a:t>toàn bộ máy chủ vật lý, virtual machines và containers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Đo lường: </a:t>
            </a:r>
            <a:r>
              <a:rPr sz="1500" b="0">
                <a:solidFill>
                  <a:srgbClr val="1A1A1A"/>
                </a:solidFill>
                <a:latin typeface="Calibri"/>
              </a:rPr>
              <a:t>băng thông, latency và throughput trong giờ cao điểm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Phân loại: </a:t>
            </a:r>
            <a:r>
              <a:rPr sz="1500" b="0">
                <a:solidFill>
                  <a:srgbClr val="1A1A1A"/>
                </a:solidFill>
                <a:latin typeface="Calibri"/>
              </a:rPr>
              <a:t>workload migrate ngay vs cần refactor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560320"/>
            <a:ext cx="5029200" cy="2743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Đầu ra Giai đoạn 1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 Bản kiến trúc đích (Target Architecture)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 Danh sách ưu tiên migration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 Bản đánh giá rủi ro sơ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II. PHẠM VI — GĐ2: TRIỂN KHAI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Times New Roman"/>
              </a:defRPr>
            </a:pPr>
            <a:r>
              <a:t>Chọn 2 hệ thống ít rủi ro nhất để chạy pilot trên nền tảng cloud. Theo dõi hiệu năng trong 2 tuần trước khi mở rộng.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Email &amp; Collaboration</a:t>
            </a:r>
          </a:p>
          <a:p>
            <a:pPr>
              <a:spcBef>
                <a:spcPts val="1200"/>
              </a:spcBef>
              <a:defRPr sz="1300">
                <a:solidFill>
                  <a:srgbClr val="1A1A1A"/>
                </a:solidFill>
              </a:defRPr>
            </a:pPr>
            <a:r>
              <a:t>Hệ thống email và workspace tools</a:t>
            </a:r>
            <a:br/>
            <a:r>
              <a:t>sẽ migrate trước do ít phụ thuộc</a:t>
            </a:r>
            <a:br/>
            <a:r>
              <a:t>vào legacy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560320"/>
            <a:ext cx="50292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3864"/>
                </a:solidFill>
              </a:defRPr>
            </a:pPr>
            <a:r>
              <a:t>Monitoring Stack</a:t>
            </a:r>
          </a:p>
          <a:p>
            <a:pPr>
              <a:spcBef>
                <a:spcPts val="1200"/>
              </a:spcBef>
              <a:defRPr sz="1300">
                <a:solidFill>
                  <a:srgbClr val="1A1A1A"/>
                </a:solidFill>
              </a:defRPr>
            </a:pPr>
            <a:r>
              <a:t>Hệ thống giám sát mạng chuyển</a:t>
            </a:r>
            <a:br/>
            <a:r>
              <a:t>sang cloud-native stack với</a:t>
            </a:r>
            <a:br/>
            <a:r>
              <a:t>auto-scaling tự động.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II. PHẠM VI — GĐ3: MỞ RỘNG TOÀN DIỆN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Sau khi pilot thành công, tiến hành migration cho các hệ thống còn lại theo thứ tự ưu tiên đã được phê duyệt bởi Ban Giám đốc.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KẾT QUẢ CUỐI GIAI ĐOẠN</a:t>
            </a:r>
            <a:br/>
            <a:br/>
            <a:r>
              <a:t>Toàn bộ hệ thống lõi vận hành trên nền tảng</a:t>
            </a:r>
            <a:br/>
            <a:r>
              <a:t>hybrid cloud, đội ngũ nội bộ tự vận hành.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III. NGUỒN LỰC VÀ NGÂN SÁCH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0584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2743200"/>
              </a:tblGrid>
              <a:tr h="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Hạng mục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Chi phí (VNĐ)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Licensing Cloud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850,000,000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Hợp đồng 12 tháng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Dịch vụ Migration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420,000,000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Bao gồm đào tạo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Nâng cấp Bảo mật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280,000,000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Zero-trust architecture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Dự phòng (15%)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232,500,000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Buffer cho phát sinh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864"/>
                          </a:solidFill>
                        </a:defRPr>
                      </a:pPr>
                      <a:r>
                        <a:t>TỔNG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864"/>
                          </a:solidFill>
                        </a:defRPr>
                      </a:pPr>
                      <a:r>
                        <a:t>1,782,500,000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3864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Times New Roman"/>
              </a:defRPr>
            </a:pPr>
            <a:r>
              <a:t>Điểm mấu chốt: Tổng ngân sách thấp hơn 40% so với phương án mua máy chủ vật lý.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IV. RỦI RO VÀ BIỆN PHÁP GIẢM THIỂU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Gián đoạn dịch vụ: </a:t>
            </a:r>
            <a:r>
              <a:rPr sz="1600" b="0">
                <a:solidFill>
                  <a:srgbClr val="1A1A1A"/>
                </a:solidFill>
                <a:latin typeface="Calibri"/>
              </a:rPr>
              <a:t>thực hiện ngoài giờ hành chính, có rollback plan cho mỗi hệ thống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Thiếu nhân sự cloud: </a:t>
            </a:r>
            <a:r>
              <a:rPr sz="1600" b="0">
                <a:solidFill>
                  <a:srgbClr val="1A1A1A"/>
                </a:solidFill>
                <a:latin typeface="Calibri"/>
              </a:rPr>
              <a:t>đào tạo 8 kỹ sư nội bộ lấy chứng chỉ trong tháng đầu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Chi phí vượt dự toán: </a:t>
            </a:r>
            <a:r>
              <a:rPr sz="1600" b="0">
                <a:solidFill>
                  <a:srgbClr val="1A1A1A"/>
                </a:solidFill>
                <a:latin typeface="Calibri"/>
              </a:rPr>
              <a:t>thiết lập budget alert và spending cap trên cloud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V. KẾ HOẠCH ĐÀO TẠO NỘI BỘ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0584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Khóa học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Đối tượng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Thời lượng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Hình thức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Cloud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Toàn bộ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16 giờ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Workshop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DevOps Pipeline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Team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24 giờ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Lab thực hành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Security &amp;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Team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8 giờ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Seminar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Data Analytics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Team BI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12 giờ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Workshop + Case Study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864"/>
                </a:solidFill>
                <a:latin typeface="Times New Roman"/>
              </a:defRPr>
            </a:pPr>
            <a:r>
              <a:t>Kết quả cuối giai đoạn: Sau đào tạo, đội ngũ Sigma hoàn toàn tự chủ vận hành mà không cần hỗ trợ bên ngoài.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VI. LỘ TRÌNH TỔNG THỂ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2743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Tuần 1-4</a:t>
            </a:r>
          </a:p>
          <a:p>
            <a:pPr algn="ctr"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Đánh giá</a:t>
            </a:r>
            <a:br/>
            <a:r>
              <a:t>&amp; Thiết kế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2743200"/>
          </a:xfrm>
          <a:prstGeom prst="round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Tuần 5-8</a:t>
            </a:r>
          </a:p>
          <a:p>
            <a:pPr algn="ctr"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Triển khai</a:t>
            </a:r>
            <a:br/>
            <a:r>
              <a:t>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286000"/>
            <a:ext cx="2011680" cy="2743200"/>
          </a:xfrm>
          <a:prstGeom prst="roundRect">
            <a:avLst/>
          </a:prstGeom>
          <a:solidFill>
            <a:srgbClr val="7E3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Tuần 9-12</a:t>
            </a:r>
          </a:p>
          <a:p>
            <a:pPr algn="ctr"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Mở rộng</a:t>
            </a:r>
            <a:br/>
            <a:r>
              <a:t>Toàn diện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286000"/>
            <a:ext cx="2011680" cy="2743200"/>
          </a:xfrm>
          <a:prstGeom prst="round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Tuần 13-14</a:t>
            </a:r>
          </a:p>
          <a:p>
            <a:pPr algn="ctr"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Đào tạo</a:t>
            </a:r>
            <a:br/>
            <a:r>
              <a:t>Nội bộ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286000"/>
            <a:ext cx="2011680" cy="2743200"/>
          </a:xfrm>
          <a:prstGeom prst="roundRect">
            <a:avLst/>
          </a:prstGeom>
          <a:solidFill>
            <a:srgbClr val="843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Tuần 15-16</a:t>
            </a:r>
          </a:p>
          <a:p>
            <a:pPr algn="ctr"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Nghiệm thu</a:t>
            </a:r>
            <a:br/>
            <a:r>
              <a:t>&amp; Bàn giao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69848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864"/>
                </a:solidFill>
                <a:latin typeface="Calibri"/>
              </a:defRPr>
            </a:pPr>
            <a:r>
              <a:t>VII. CAM KẾT VÀ BƯỚC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Uptime 99.5%: </a:t>
            </a:r>
            <a:r>
              <a:rPr sz="1600" b="0">
                <a:solidFill>
                  <a:srgbClr val="1A1A1A"/>
                </a:solidFill>
                <a:latin typeface="Calibri"/>
              </a:rPr>
              <a:t>cam kết SLA toàn bộ hệ thống sau go-live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Đào tạo đội ngũ: </a:t>
            </a:r>
            <a:r>
              <a:rPr sz="1600" b="0">
                <a:solidFill>
                  <a:srgbClr val="1A1A1A"/>
                </a:solidFill>
                <a:latin typeface="Calibri"/>
              </a:rPr>
              <a:t>8 kỹ sư chứng chỉ cloud trong 4 tuần đầu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Tự chủ vận hành: </a:t>
            </a:r>
            <a:r>
              <a:rPr sz="1600" b="0">
                <a:solidFill>
                  <a:srgbClr val="1A1A1A"/>
                </a:solidFill>
                <a:latin typeface="Calibri"/>
              </a:rPr>
              <a:t>Sigma độc lập 100% sau khi dự án kết thúc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Hỗ trợ sau dự án: </a:t>
            </a:r>
            <a:r>
              <a:rPr sz="1600" b="0">
                <a:solidFill>
                  <a:srgbClr val="1A1A1A"/>
                </a:solidFill>
                <a:latin typeface="Calibri"/>
              </a:rPr>
              <a:t>3 tháng standby support miễn phí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4B"/>
                </a:solidFill>
                <a:latin typeface="Calibri"/>
              </a:defRPr>
            </a:pPr>
            <a:r>
              <a:t>▸ Đầu ra: Ban Giám đốc phê duyệt kế hoạch và cấp ngân sách cho Giai đoạn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 Workforce — Tổng Công ty Sigma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286000"/>
            <a:ext cx="57607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CẢM ƠN QUÝ BAN LÃNH ĐẠO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95959"/>
                </a:solidFill>
                <a:latin typeface="Calibri"/>
              </a:defRPr>
            </a:pPr>
            <a:r>
              <a:t>Chúng tôi sẵn sàng giải đáp mọi thắc mắc.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846320"/>
            <a:ext cx="5760720" cy="27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95959"/>
                </a:solidFill>
                <a:latin typeface="Calibri"/>
              </a:defRPr>
            </a:pPr>
            <a:r>
              <a:t>Tổng Công ty Cổ phần Hạ tầng Sigma  •  AI Workforce Division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