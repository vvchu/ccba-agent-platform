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Chi phí đầu tư (Tỷ VNĐ)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Q1/2026</c:v>
                </c:pt>
                <c:pt idx="1">
                  <c:v>Q2/2026</c:v>
                </c:pt>
                <c:pt idx="2">
                  <c:v>Q3/2026</c:v>
                </c:pt>
                <c:pt idx="3">
                  <c:v>Q4/2026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5.5</c:v>
                </c:pt>
                <c:pt idx="1">
                  <c:v>3.2</c:v>
                </c:pt>
                <c:pt idx="2">
                  <c:v>1.5</c:v>
                </c:pt>
                <c:pt idx="3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Tiết kiệm tích lũy (Tỷ VNĐ)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Q1/2026</c:v>
                </c:pt>
                <c:pt idx="1">
                  <c:v>Q2/2026</c:v>
                </c:pt>
                <c:pt idx="2">
                  <c:v>Q3/2026</c:v>
                </c:pt>
                <c:pt idx="3">
                  <c:v>Q4/2026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2.5</c:v>
                </c:pt>
                <c:pt idx="2">
                  <c:v>6.0</c:v>
                </c:pt>
                <c:pt idx="3">
                  <c:v>12.5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CHIẾN LƯỢC CHUYỂN ĐỔI SỐ NĂM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C8C8C8"/>
                </a:solidFill>
                <a:latin typeface="Arial"/>
              </a:rPr>
              <a:t>Báo cáo đề xuất phương án công nghệ dành cho Hội đồng Quản trị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NỘI DUNG TRÌNH BÀY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73152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9202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Arial"/>
              </a:rPr>
              <a:t>01. Đánh giá hiện trạng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926080"/>
            <a:ext cx="73152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Arial"/>
              </a:rPr>
              <a:t>02. Mục tiêu chuyển đổi số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023360"/>
            <a:ext cx="73152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Arial"/>
              </a:rPr>
              <a:t>03. Lộ trình triển khai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120640"/>
            <a:ext cx="731520" cy="7315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5212079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Arial"/>
              </a:rPr>
              <a:t>04. Dự toán ngân sách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HIỆN TRẠNG VÀ THÁCH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980B9"/>
                </a:solidFill>
                <a:latin typeface="Arial"/>
              </a:rPr>
              <a:t>Khó khăn hiện tại</a:t>
            </a:r>
          </a:p>
          <a:p>
            <a:pPr lvl="1"/>
            <a:r>
              <a:rPr sz="2000" b="0">
                <a:solidFill>
                  <a:srgbClr val="2C3E50"/>
                </a:solidFill>
                <a:latin typeface="Arial"/>
              </a:rPr>
              <a:t>Dữ liệu phân tán ở nhiều phòng ban.</a:t>
            </a:r>
          </a:p>
          <a:p>
            <a:pPr lvl="1"/>
            <a:r>
              <a:rPr sz="2000" b="0">
                <a:solidFill>
                  <a:srgbClr val="2C3E50"/>
                </a:solidFill>
                <a:latin typeface="Arial"/>
              </a:rPr>
              <a:t>Báo cáo thủ công mất 3-5 ngày làm việc.</a:t>
            </a:r>
          </a:p>
          <a:p>
            <a:pPr lvl="1"/>
            <a:r>
              <a:rPr sz="2000" b="0">
                <a:solidFill>
                  <a:srgbClr val="2C3E50"/>
                </a:solidFill>
                <a:latin typeface="Arial"/>
              </a:rPr>
              <a:t>Hệ thống máy chủ nội bộ đã quá tải 85%.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7E22"/>
                </a:solidFill>
                <a:latin typeface="Arial"/>
              </a:rPr>
              <a:t>Cơ hội tự động hóa</a:t>
            </a:r>
          </a:p>
          <a:p>
            <a:pPr lvl="1"/>
            <a:r>
              <a:rPr sz="2000" b="0">
                <a:solidFill>
                  <a:srgbClr val="2C3E50"/>
                </a:solidFill>
                <a:latin typeface="Arial"/>
              </a:rPr>
              <a:t>Áp dụng AI Agent có thể rút ngắn thời gian xử lý xuống còn vài phút.</a:t>
            </a:r>
          </a:p>
          <a:p>
            <a:pPr lvl="1"/>
            <a:r>
              <a:rPr sz="2000" b="0">
                <a:solidFill>
                  <a:srgbClr val="2C3E50"/>
                </a:solidFill>
                <a:latin typeface="Arial"/>
              </a:rPr>
              <a:t>Quy trình duyệt tự động tiết kiệm 20% chi phí vận hành.</a:t>
            </a:r>
          </a:p>
          <a:p>
            <a:pPr lvl="1"/>
            <a:r>
              <a:rPr sz="2000" b="0">
                <a:solidFill>
                  <a:srgbClr val="2C3E50"/>
                </a:solidFill>
                <a:latin typeface="Arial"/>
              </a:rPr>
              <a:t>Centralized Data Lake giúp ra quyết định theo thời gian thực.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MỤC TIÊU CỐT LÕI NĂM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2980B9"/>
                </a:solidFill>
                <a:latin typeface="Arial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C3E50"/>
                </a:solidFill>
                <a:latin typeface="Arial"/>
              </a:rPr>
              <a:t>Số hóa quy trình duyệt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2980B9"/>
                </a:solidFill>
                <a:latin typeface="Arial"/>
              </a:rP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6576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C3E50"/>
                </a:solidFill>
                <a:latin typeface="Arial"/>
              </a:rPr>
              <a:t>Tiết kiệm chi phí OPEX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2860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2980B9"/>
                </a:solidFill>
                <a:latin typeface="Arial"/>
              </a:rPr>
              <a:t>X5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6576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C3E50"/>
                </a:solidFill>
                <a:latin typeface="Arial"/>
              </a:rPr>
              <a:t>Tốc độ ra quyết định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DỰ KIẾN LỢI ÍCH TÀI CHÍNH (ROI)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371600"/>
          <a:ext cx="853409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XIN TRÂN TRỌNG CẢM 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